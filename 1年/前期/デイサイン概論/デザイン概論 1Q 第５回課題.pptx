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4DD2-36F8-FE2A-C95F-50063BC4F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92627-40DD-DB71-B0DB-744202F7B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18CB1-EF6C-95E7-95F6-F9D67C47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9F24A-12FC-BC47-B95B-C1C1974A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C1398-1526-B838-99E6-07466D1C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13733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DEFE-B7CE-6FF1-7A80-6713BF67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4604A-D203-D78D-26A7-84C3CAD3B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46D0E-963F-6BBB-9D88-64D41956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2EA4A-159B-92F7-D632-FCE41697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1098F-C167-0B07-849E-73195834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66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B9DC-9BCC-0418-5C6B-E8501E85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6303B-A705-C205-5612-A9B6B0AFB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F5A5B-2905-A2B9-8109-3D9E5D60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4E377-420E-5357-7B34-59F8F2C7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15E52-24B0-4E88-8F4E-7544B62F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18551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DD50-3D5A-BDCB-20A7-642584CE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B4B9-59A2-643F-BD01-54CB70998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7520C-4171-AAB3-4C28-7C32559E6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04CF3-06A5-928C-3DFD-24314F78D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96585-6DC8-B982-5CF2-68B4D5BA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C0714-F23A-3831-8E1A-9CE61899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B215-E0D7-2EF6-A812-9EE329549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96A8D-6C8A-9A10-178E-511B2709A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7C18B-238C-1133-A2AD-41C93741C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1122D-590F-9AB5-C87D-5F93AF6CE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2ED37-AE51-8B80-C29C-5F280E773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07F3F-2D3B-527D-1626-B22E8B20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9DC72-8CE9-D008-9C0D-46761B66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61AEB-1C32-A9F2-76C8-1CF46EB9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6244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DADF-CA5F-E1AB-75FA-7043F3A7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AD341-CF6B-C320-13CA-E7C41EC8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33676-65FE-ED42-A740-2490EE58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3EB29-E6A3-D299-07B8-E072455B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239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B11C9-163D-B682-5DDB-4E2BCA0B3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8A473-59BE-5C05-E6A0-08C438A76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0EC97-295C-E53B-CE81-F8B44991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3517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0632-76D7-2487-10F2-60FF0A0D7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757EB-274C-BBC8-2EE2-77FFA6A37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DEE9C-40EE-C03A-CD40-AFA8A7945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81265-68C6-C604-C7AA-22C4C6250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265B4-A851-20E2-9EDF-168F3827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C1695-B510-7002-3F94-59E95A37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2211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49CC-2468-D0DD-1903-0C87F3D17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F12D9-5848-58E2-DA63-C3CB008F1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103C2-62D5-2C22-F43E-CBAA0A0D5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CAA77-3AC7-6A13-6302-39FEFA8D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2C91A-AF03-5239-7330-8DE5FBEA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F9830-1425-879A-46AC-1C13159E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514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1E8A-5E3F-18DB-A348-840789DF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3E8E2-7C89-9AE8-B4DF-FF42861AE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88A8B-5E83-C5FB-29F6-D7651DD8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2694F-9D47-6167-D48F-22C54720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60D1-7449-817C-5935-A7A889A3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1377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AF892C-FC9B-1178-69FA-9FBAAE977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A9F86-E553-6863-16C5-0BBFA255C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6F570-6942-EA01-6E27-8649CD88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973C3-5123-8227-643B-6F39C7B3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ACC13-2196-A7E2-75A1-E856588D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9565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5FBC3-8427-515B-2D3D-5F185C47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3D2BF-262C-261B-FF8B-02EAE7336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87541-CA53-6135-97DC-A8C7E2234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35515-8E46-4A6E-A704-8370B452CAFC}" type="datetimeFigureOut">
              <a:rPr lang="en-MY" smtClean="0"/>
              <a:t>14/5/2025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EB3AE-5088-1A2A-A60B-F19D7F1DD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29289-5D27-0056-3CB9-FA3385FBC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24FF6-BAA6-478E-8B6E-D846B62317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023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horturl.at/URAXw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26000">
              <a:schemeClr val="accent3">
                <a:lumMod val="45000"/>
                <a:lumOff val="55000"/>
              </a:schemeClr>
            </a:gs>
            <a:gs pos="52000">
              <a:schemeClr val="accent3">
                <a:lumMod val="45000"/>
                <a:lumOff val="55000"/>
              </a:schemeClr>
            </a:gs>
            <a:gs pos="94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35">
            <a:extLst>
              <a:ext uri="{FF2B5EF4-FFF2-40B4-BE49-F238E27FC236}">
                <a16:creationId xmlns:a16="http://schemas.microsoft.com/office/drawing/2014/main" id="{0BAB0A09-6FBD-4C53-9245-71E07508533A}"/>
              </a:ext>
            </a:extLst>
          </p:cNvPr>
          <p:cNvSpPr/>
          <p:nvPr/>
        </p:nvSpPr>
        <p:spPr>
          <a:xfrm>
            <a:off x="5164799" y="1619555"/>
            <a:ext cx="2673754" cy="21467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sz="2400"/>
          </a:p>
        </p:txBody>
      </p:sp>
      <p:sp>
        <p:nvSpPr>
          <p:cNvPr id="28" name="正方形/長方形 29">
            <a:extLst>
              <a:ext uri="{FF2B5EF4-FFF2-40B4-BE49-F238E27FC236}">
                <a16:creationId xmlns:a16="http://schemas.microsoft.com/office/drawing/2014/main" id="{D93AA4DE-EAEF-433A-A240-F80E87B1492B}"/>
              </a:ext>
            </a:extLst>
          </p:cNvPr>
          <p:cNvSpPr/>
          <p:nvPr/>
        </p:nvSpPr>
        <p:spPr>
          <a:xfrm>
            <a:off x="322386" y="4122139"/>
            <a:ext cx="4360591" cy="252039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dirty="0"/>
          </a:p>
        </p:txBody>
      </p:sp>
      <p:sp>
        <p:nvSpPr>
          <p:cNvPr id="29" name="正方形/長方形 1">
            <a:extLst>
              <a:ext uri="{FF2B5EF4-FFF2-40B4-BE49-F238E27FC236}">
                <a16:creationId xmlns:a16="http://schemas.microsoft.com/office/drawing/2014/main" id="{D0B824A6-E977-4A66-A44F-5568E22AF7D0}"/>
              </a:ext>
            </a:extLst>
          </p:cNvPr>
          <p:cNvSpPr/>
          <p:nvPr/>
        </p:nvSpPr>
        <p:spPr>
          <a:xfrm>
            <a:off x="362908" y="1033185"/>
            <a:ext cx="4308038" cy="233967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dirty="0"/>
          </a:p>
        </p:txBody>
      </p:sp>
      <p:sp>
        <p:nvSpPr>
          <p:cNvPr id="30" name="テキスト ボックス 2">
            <a:extLst>
              <a:ext uri="{FF2B5EF4-FFF2-40B4-BE49-F238E27FC236}">
                <a16:creationId xmlns:a16="http://schemas.microsoft.com/office/drawing/2014/main" id="{B6BBC904-8F4A-4E8F-A904-D96D8ECBA0F4}"/>
              </a:ext>
            </a:extLst>
          </p:cNvPr>
          <p:cNvSpPr txBox="1"/>
          <p:nvPr/>
        </p:nvSpPr>
        <p:spPr>
          <a:xfrm>
            <a:off x="256697" y="730479"/>
            <a:ext cx="4908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400" dirty="0">
                <a:solidFill>
                  <a:srgbClr val="0070C0"/>
                </a:solidFill>
              </a:rPr>
              <a:t>【</a:t>
            </a:r>
            <a:r>
              <a:rPr kumimoji="1" lang="ja-JP" altLang="en-US" sz="1400" dirty="0">
                <a:solidFill>
                  <a:srgbClr val="0070C0"/>
                </a:solidFill>
              </a:rPr>
              <a:t>１．社会構造変化</a:t>
            </a:r>
            <a:r>
              <a:rPr kumimoji="1" lang="en-US" altLang="ja-JP" sz="1400" dirty="0">
                <a:solidFill>
                  <a:srgbClr val="0070C0"/>
                </a:solidFill>
              </a:rPr>
              <a:t>】</a:t>
            </a:r>
            <a:r>
              <a:rPr kumimoji="1" lang="ja-JP" altLang="en-US" sz="1400" dirty="0">
                <a:solidFill>
                  <a:srgbClr val="0070C0"/>
                </a:solidFill>
              </a:rPr>
              <a:t>　</a:t>
            </a:r>
            <a:r>
              <a:rPr kumimoji="1" lang="ja-JP" altLang="en-US" sz="1200" dirty="0">
                <a:solidFill>
                  <a:srgbClr val="0070C0"/>
                </a:solidFill>
              </a:rPr>
              <a:t>観察</a:t>
            </a:r>
            <a:r>
              <a:rPr kumimoji="1" lang="en-US" altLang="ja-JP" sz="1200" dirty="0">
                <a:solidFill>
                  <a:srgbClr val="0070C0"/>
                </a:solidFill>
              </a:rPr>
              <a:t>/</a:t>
            </a:r>
            <a:r>
              <a:rPr kumimoji="1" lang="ja-JP" altLang="en-US" sz="1200" dirty="0">
                <a:solidFill>
                  <a:srgbClr val="0070C0"/>
                </a:solidFill>
              </a:rPr>
              <a:t>ニュース（事実）をまとめる</a:t>
            </a:r>
            <a:endParaRPr kumimoji="1" lang="ja-JP" altLang="en-US" sz="1400" dirty="0">
              <a:solidFill>
                <a:srgbClr val="0070C0"/>
              </a:solidFill>
            </a:endParaRPr>
          </a:p>
        </p:txBody>
      </p:sp>
      <p:sp>
        <p:nvSpPr>
          <p:cNvPr id="31" name="テキスト ボックス 20">
            <a:extLst>
              <a:ext uri="{FF2B5EF4-FFF2-40B4-BE49-F238E27FC236}">
                <a16:creationId xmlns:a16="http://schemas.microsoft.com/office/drawing/2014/main" id="{8E0627B4-6C31-CF2E-92B3-5998F367131C}"/>
              </a:ext>
            </a:extLst>
          </p:cNvPr>
          <p:cNvSpPr txBox="1"/>
          <p:nvPr/>
        </p:nvSpPr>
        <p:spPr>
          <a:xfrm>
            <a:off x="362907" y="1033185"/>
            <a:ext cx="43080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/>
              <a:t>参考資料：</a:t>
            </a:r>
            <a:r>
              <a:rPr kumimoji="1" lang="en-MY" altLang="ja-JP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https://shorturl.at/URAXw</a:t>
            </a:r>
            <a:endParaRPr kumimoji="1" lang="en-MY" altLang="ja-JP" sz="1400" dirty="0"/>
          </a:p>
          <a:p>
            <a:endParaRPr kumimoji="1" lang="en-MY" altLang="ja-JP" sz="1400" dirty="0"/>
          </a:p>
          <a:p>
            <a:r>
              <a:rPr lang="en-US" altLang="ja-JP" sz="1400" dirty="0"/>
              <a:t>2025</a:t>
            </a:r>
            <a:r>
              <a:rPr lang="ja-JP" altLang="en-US" sz="1400" dirty="0"/>
              <a:t>年</a:t>
            </a:r>
            <a:r>
              <a:rPr lang="en-US" altLang="ja-JP" sz="1400" dirty="0"/>
              <a:t>4</a:t>
            </a:r>
            <a:r>
              <a:rPr lang="ja-JP" altLang="en-US" sz="1400" dirty="0"/>
              <a:t>月、日本の株や国債に対して、外国人投資家が約</a:t>
            </a:r>
            <a:r>
              <a:rPr lang="en-US" altLang="ja-JP" sz="1400" dirty="0"/>
              <a:t>8.2</a:t>
            </a:r>
            <a:r>
              <a:rPr lang="ja-JP" altLang="en-US" sz="1400" dirty="0"/>
              <a:t>兆円を投資しました。</a:t>
            </a:r>
            <a:br>
              <a:rPr lang="ja-JP" altLang="en-US" sz="1400" dirty="0"/>
            </a:br>
            <a:r>
              <a:rPr lang="ja-JP" altLang="en-US" sz="1400" dirty="0"/>
              <a:t>これは過去最高額で、アメリカのトランプ元大統領が発表した新しい</a:t>
            </a:r>
            <a:r>
              <a:rPr lang="ja-JP" altLang="en-US" sz="1400" b="1" dirty="0"/>
              <a:t>関税</a:t>
            </a:r>
            <a:r>
              <a:rPr lang="ja-JP" altLang="en-US" sz="1400" dirty="0"/>
              <a:t>（「解放の日」関税）など、世界の貿易が不安定になったことが原因です。</a:t>
            </a:r>
            <a:br>
              <a:rPr lang="ja-JP" altLang="en-US" sz="1400" dirty="0"/>
            </a:br>
            <a:r>
              <a:rPr lang="ja-JP" altLang="en-US" sz="1400" dirty="0"/>
              <a:t>世界の投資家たちは、</a:t>
            </a:r>
            <a:r>
              <a:rPr lang="ja-JP" altLang="en-US" sz="1400" b="1" dirty="0"/>
              <a:t>アメリカのドルよりも、日本を「安全で信頼できる国」として選んでいます。</a:t>
            </a:r>
            <a:endParaRPr kumimoji="1" lang="en-US" altLang="ja-JP" sz="1400" b="1" dirty="0"/>
          </a:p>
        </p:txBody>
      </p:sp>
      <p:sp>
        <p:nvSpPr>
          <p:cNvPr id="32" name="テキスト ボックス 4">
            <a:extLst>
              <a:ext uri="{FF2B5EF4-FFF2-40B4-BE49-F238E27FC236}">
                <a16:creationId xmlns:a16="http://schemas.microsoft.com/office/drawing/2014/main" id="{C50340C2-7513-4794-9FB4-C9F88CF96AA3}"/>
              </a:ext>
            </a:extLst>
          </p:cNvPr>
          <p:cNvSpPr txBox="1"/>
          <p:nvPr/>
        </p:nvSpPr>
        <p:spPr>
          <a:xfrm>
            <a:off x="256361" y="154520"/>
            <a:ext cx="116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dirty="0"/>
              <a:t>デザイン概論　課題５　　学籍番号：</a:t>
            </a:r>
            <a:r>
              <a:rPr kumimoji="1" lang="en-MY" altLang="ja-JP" u="sng" dirty="0"/>
              <a:t>25T358</a:t>
            </a:r>
            <a:r>
              <a:rPr kumimoji="1" lang="ja-JP" altLang="en-US" dirty="0"/>
              <a:t>　氏名：</a:t>
            </a:r>
            <a:r>
              <a:rPr kumimoji="1" lang="ja-JP" altLang="en-US" u="sng" dirty="0"/>
              <a:t>ムハマド　アズリズ　ダニアル</a:t>
            </a:r>
            <a:r>
              <a:rPr kumimoji="1" lang="ja-JP" altLang="en-US" u="sng" dirty="0">
                <a:solidFill>
                  <a:schemeClr val="bg1"/>
                </a:solidFill>
              </a:rPr>
              <a:t>ｙ</a:t>
            </a:r>
            <a:r>
              <a:rPr kumimoji="1" lang="ja-JP" altLang="en-US" u="sng" dirty="0"/>
              <a:t>　　　　　　</a:t>
            </a:r>
          </a:p>
        </p:txBody>
      </p:sp>
      <p:sp>
        <p:nvSpPr>
          <p:cNvPr id="33" name="正方形/長方形 14">
            <a:extLst>
              <a:ext uri="{FF2B5EF4-FFF2-40B4-BE49-F238E27FC236}">
                <a16:creationId xmlns:a16="http://schemas.microsoft.com/office/drawing/2014/main" id="{BD4DE601-EA06-4DE9-8CC6-15B063576721}"/>
              </a:ext>
            </a:extLst>
          </p:cNvPr>
          <p:cNvSpPr/>
          <p:nvPr/>
        </p:nvSpPr>
        <p:spPr>
          <a:xfrm>
            <a:off x="269834" y="3569281"/>
            <a:ext cx="168347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【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</a:rPr>
              <a:t>２．価値観の変化</a:t>
            </a:r>
            <a:r>
              <a:rPr lang="en-US" altLang="ja-JP" sz="1400" dirty="0">
                <a:solidFill>
                  <a:schemeClr val="accent6">
                    <a:lumMod val="75000"/>
                  </a:schemeClr>
                </a:solidFill>
              </a:rPr>
              <a:t>】</a:t>
            </a:r>
            <a:endParaRPr lang="ja-JP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テキスト ボックス 27">
            <a:extLst>
              <a:ext uri="{FF2B5EF4-FFF2-40B4-BE49-F238E27FC236}">
                <a16:creationId xmlns:a16="http://schemas.microsoft.com/office/drawing/2014/main" id="{A4CC69E2-0899-488D-B2BB-992E65723BF7}"/>
              </a:ext>
            </a:extLst>
          </p:cNvPr>
          <p:cNvSpPr txBox="1"/>
          <p:nvPr/>
        </p:nvSpPr>
        <p:spPr>
          <a:xfrm>
            <a:off x="362907" y="4122139"/>
            <a:ext cx="4348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>
                <a:solidFill>
                  <a:schemeClr val="bg1"/>
                </a:solidFill>
              </a:rPr>
              <a:t>➀</a:t>
            </a:r>
            <a:r>
              <a:rPr kumimoji="1" lang="en-US" altLang="ja-JP" sz="1400" dirty="0">
                <a:solidFill>
                  <a:schemeClr val="bg1"/>
                </a:solidFill>
              </a:rPr>
              <a:t>Life Style</a:t>
            </a:r>
            <a:r>
              <a:rPr kumimoji="1" lang="ja-JP" altLang="en-US" sz="1400" dirty="0">
                <a:solidFill>
                  <a:schemeClr val="bg1"/>
                </a:solidFill>
              </a:rPr>
              <a:t>　②</a:t>
            </a:r>
            <a:r>
              <a:rPr kumimoji="1" lang="en-US" altLang="ja-JP" sz="1400" dirty="0">
                <a:solidFill>
                  <a:schemeClr val="bg1"/>
                </a:solidFill>
              </a:rPr>
              <a:t>Technology </a:t>
            </a:r>
            <a:r>
              <a:rPr kumimoji="1" lang="ja-JP" altLang="en-US" sz="1400" dirty="0">
                <a:solidFill>
                  <a:schemeClr val="bg1"/>
                </a:solidFill>
              </a:rPr>
              <a:t>　③</a:t>
            </a:r>
            <a:r>
              <a:rPr kumimoji="1" lang="en-US" altLang="ja-JP" sz="1400" dirty="0">
                <a:solidFill>
                  <a:schemeClr val="bg1"/>
                </a:solidFill>
              </a:rPr>
              <a:t>Economy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5" name="正方形/長方形 28">
            <a:extLst>
              <a:ext uri="{FF2B5EF4-FFF2-40B4-BE49-F238E27FC236}">
                <a16:creationId xmlns:a16="http://schemas.microsoft.com/office/drawing/2014/main" id="{0959569A-234F-45D9-B217-4D882779DC9C}"/>
              </a:ext>
            </a:extLst>
          </p:cNvPr>
          <p:cNvSpPr/>
          <p:nvPr/>
        </p:nvSpPr>
        <p:spPr>
          <a:xfrm>
            <a:off x="269834" y="3845141"/>
            <a:ext cx="4401112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200" dirty="0"/>
              <a:t>次の</a:t>
            </a:r>
            <a:r>
              <a:rPr lang="en-US" altLang="ja-JP" sz="1200" dirty="0"/>
              <a:t>3</a:t>
            </a:r>
            <a:r>
              <a:rPr lang="ja-JP" altLang="en-US" sz="1200" dirty="0" err="1"/>
              <a:t>つの</a:t>
            </a:r>
            <a:r>
              <a:rPr lang="ja-JP" altLang="en-US" sz="1200" dirty="0"/>
              <a:t>視点の中から一つ選び、自分なりの見解を示す。</a:t>
            </a:r>
          </a:p>
        </p:txBody>
      </p:sp>
      <p:sp>
        <p:nvSpPr>
          <p:cNvPr id="36" name="正方形/長方形 31">
            <a:extLst>
              <a:ext uri="{FF2B5EF4-FFF2-40B4-BE49-F238E27FC236}">
                <a16:creationId xmlns:a16="http://schemas.microsoft.com/office/drawing/2014/main" id="{6FBA0828-6EA7-4B0E-8DB1-E7C294BC5AE5}"/>
              </a:ext>
            </a:extLst>
          </p:cNvPr>
          <p:cNvSpPr/>
          <p:nvPr/>
        </p:nvSpPr>
        <p:spPr>
          <a:xfrm>
            <a:off x="5059824" y="725408"/>
            <a:ext cx="251863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>
                <a:solidFill>
                  <a:schemeClr val="accent4">
                    <a:lumMod val="75000"/>
                  </a:schemeClr>
                </a:solidFill>
              </a:rPr>
              <a:t>【</a:t>
            </a:r>
            <a:r>
              <a:rPr lang="ja-JP" altLang="en-US" sz="1400" dirty="0">
                <a:solidFill>
                  <a:schemeClr val="accent4">
                    <a:lumMod val="75000"/>
                  </a:schemeClr>
                </a:solidFill>
              </a:rPr>
              <a:t>３．将来のトレンド予測</a:t>
            </a:r>
            <a:r>
              <a:rPr lang="en-US" altLang="ja-JP" sz="1400" dirty="0">
                <a:solidFill>
                  <a:schemeClr val="accent4">
                    <a:lumMod val="75000"/>
                  </a:schemeClr>
                </a:solidFill>
              </a:rPr>
              <a:t>】</a:t>
            </a:r>
            <a:endParaRPr lang="ja-JP" alt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テキスト ボックス 32">
            <a:extLst>
              <a:ext uri="{FF2B5EF4-FFF2-40B4-BE49-F238E27FC236}">
                <a16:creationId xmlns:a16="http://schemas.microsoft.com/office/drawing/2014/main" id="{417A213D-5606-4CE0-9057-CAF3E18F0688}"/>
              </a:ext>
            </a:extLst>
          </p:cNvPr>
          <p:cNvSpPr txBox="1"/>
          <p:nvPr/>
        </p:nvSpPr>
        <p:spPr>
          <a:xfrm>
            <a:off x="5164799" y="1643537"/>
            <a:ext cx="2673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dirty="0"/>
              <a:t>今までは</a:t>
            </a:r>
            <a:endParaRPr kumimoji="1" lang="en-US" altLang="ja-JP" dirty="0"/>
          </a:p>
          <a:p>
            <a:r>
              <a:rPr lang="ja-JP" altLang="en-US" u="sng" dirty="0"/>
              <a:t>内需中心で安定を重視する経済 </a:t>
            </a:r>
            <a:r>
              <a:rPr kumimoji="1" lang="ja-JP" altLang="en-US" dirty="0"/>
              <a:t>であったが、</a:t>
            </a:r>
          </a:p>
        </p:txBody>
      </p:sp>
      <p:sp>
        <p:nvSpPr>
          <p:cNvPr id="38" name="テキスト ボックス 33">
            <a:extLst>
              <a:ext uri="{FF2B5EF4-FFF2-40B4-BE49-F238E27FC236}">
                <a16:creationId xmlns:a16="http://schemas.microsoft.com/office/drawing/2014/main" id="{08827FC0-DBC4-47EB-AA93-BA9CCD488280}"/>
              </a:ext>
            </a:extLst>
          </p:cNvPr>
          <p:cNvSpPr txBox="1"/>
          <p:nvPr/>
        </p:nvSpPr>
        <p:spPr>
          <a:xfrm>
            <a:off x="5164800" y="1110222"/>
            <a:ext cx="5868365" cy="3077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>
                <a:solidFill>
                  <a:schemeClr val="bg1"/>
                </a:solidFill>
              </a:rPr>
              <a:t>将来トレンド　（シンプルなステートメント）</a:t>
            </a:r>
          </a:p>
        </p:txBody>
      </p:sp>
      <p:sp>
        <p:nvSpPr>
          <p:cNvPr id="39" name="正方形/長方形 36">
            <a:extLst>
              <a:ext uri="{FF2B5EF4-FFF2-40B4-BE49-F238E27FC236}">
                <a16:creationId xmlns:a16="http://schemas.microsoft.com/office/drawing/2014/main" id="{588DA3A4-15A4-40BF-B00D-CF2ED84B3D15}"/>
              </a:ext>
            </a:extLst>
          </p:cNvPr>
          <p:cNvSpPr/>
          <p:nvPr/>
        </p:nvSpPr>
        <p:spPr>
          <a:xfrm>
            <a:off x="8332406" y="1602858"/>
            <a:ext cx="2700759" cy="21467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40" name="テキスト ボックス 38">
            <a:extLst>
              <a:ext uri="{FF2B5EF4-FFF2-40B4-BE49-F238E27FC236}">
                <a16:creationId xmlns:a16="http://schemas.microsoft.com/office/drawing/2014/main" id="{027132FA-0204-4B48-9ECE-7377DDF83FF9}"/>
              </a:ext>
            </a:extLst>
          </p:cNvPr>
          <p:cNvSpPr txBox="1"/>
          <p:nvPr/>
        </p:nvSpPr>
        <p:spPr>
          <a:xfrm>
            <a:off x="8298995" y="1602858"/>
            <a:ext cx="27510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/>
              <a:t>このトレンドの具体化によって</a:t>
            </a:r>
            <a:endParaRPr kumimoji="1" lang="en-US" altLang="ja-JP" sz="1400" dirty="0"/>
          </a:p>
          <a:p>
            <a:endParaRPr kumimoji="1" lang="en-MY" altLang="ja-JP" sz="1400" dirty="0"/>
          </a:p>
          <a:p>
            <a:endParaRPr kumimoji="1" lang="en-MY" altLang="ja-JP" sz="1400" dirty="0"/>
          </a:p>
          <a:p>
            <a:endParaRPr kumimoji="1" lang="en-MY" altLang="ja-JP" sz="1400" dirty="0"/>
          </a:p>
          <a:p>
            <a:endParaRPr kumimoji="1" lang="en-MY" altLang="ja-JP" sz="1400" dirty="0"/>
          </a:p>
          <a:p>
            <a:endParaRPr kumimoji="1" lang="en-MY" altLang="ja-JP" sz="1400" dirty="0"/>
          </a:p>
          <a:p>
            <a:endParaRPr kumimoji="1" lang="en-MY" altLang="ja-JP" sz="1400" dirty="0"/>
          </a:p>
          <a:p>
            <a:endParaRPr kumimoji="1" lang="en-MY" altLang="ja-JP" sz="1400" dirty="0"/>
          </a:p>
          <a:p>
            <a:endParaRPr kumimoji="1" lang="en-MY" altLang="ja-JP" sz="1400" dirty="0"/>
          </a:p>
        </p:txBody>
      </p:sp>
      <p:sp>
        <p:nvSpPr>
          <p:cNvPr id="41" name="矢印: 右 39">
            <a:extLst>
              <a:ext uri="{FF2B5EF4-FFF2-40B4-BE49-F238E27FC236}">
                <a16:creationId xmlns:a16="http://schemas.microsoft.com/office/drawing/2014/main" id="{92C97EC9-CEF6-42BF-8112-A7E8942B20D0}"/>
              </a:ext>
            </a:extLst>
          </p:cNvPr>
          <p:cNvSpPr/>
          <p:nvPr/>
        </p:nvSpPr>
        <p:spPr>
          <a:xfrm>
            <a:off x="7969556" y="2454925"/>
            <a:ext cx="277616" cy="41283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D6BCDF0-AB65-43AB-8E58-62A79C218F74}"/>
              </a:ext>
            </a:extLst>
          </p:cNvPr>
          <p:cNvSpPr/>
          <p:nvPr/>
        </p:nvSpPr>
        <p:spPr>
          <a:xfrm>
            <a:off x="5059824" y="4322812"/>
            <a:ext cx="2815593" cy="23806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99CB4D6-9777-4DCF-A0AE-3A66CA58FB3C}"/>
              </a:ext>
            </a:extLst>
          </p:cNvPr>
          <p:cNvSpPr/>
          <p:nvPr/>
        </p:nvSpPr>
        <p:spPr>
          <a:xfrm>
            <a:off x="5059824" y="4359227"/>
            <a:ext cx="2815593" cy="25550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/>
              <a:t>発想理由：</a:t>
            </a:r>
            <a:endParaRPr lang="en-MY" altLang="ja-JP" sz="1400" dirty="0"/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sz="140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世界の政治が不安定になる中、</a:t>
            </a:r>
            <a:r>
              <a:rPr lang="ja-JP" sz="1400" b="1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日本の「安心できる国」というイメージ</a:t>
            </a:r>
            <a:r>
              <a:rPr lang="ja-JP" sz="140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が注目されています。</a:t>
            </a:r>
            <a:endParaRPr lang="en-MY" sz="1400" kern="100" dirty="0"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sz="140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政府も、</a:t>
            </a:r>
            <a:r>
              <a:rPr lang="ja-JP" sz="1400" b="1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投資を受け入れやすくする制度</a:t>
            </a:r>
            <a:r>
              <a:rPr lang="ja-JP" sz="140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を進めています。</a:t>
            </a:r>
            <a:endParaRPr lang="en-MY" sz="1400" kern="100" dirty="0"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altLang="ja-JP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1050" dirty="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12636EF-C796-40C9-AE18-3171EC5FC307}"/>
              </a:ext>
            </a:extLst>
          </p:cNvPr>
          <p:cNvSpPr/>
          <p:nvPr/>
        </p:nvSpPr>
        <p:spPr>
          <a:xfrm>
            <a:off x="8332404" y="4322812"/>
            <a:ext cx="2815593" cy="23483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6BA596C-E406-4BCF-8D79-AB6CBC86C73F}"/>
              </a:ext>
            </a:extLst>
          </p:cNvPr>
          <p:cNvSpPr txBox="1"/>
          <p:nvPr/>
        </p:nvSpPr>
        <p:spPr>
          <a:xfrm>
            <a:off x="8332404" y="4322812"/>
            <a:ext cx="2815592" cy="2068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/>
              <a:t>このトレンドが実現するか否かの別れ道のポイント（フラクチャー・ポイント）は何か</a:t>
            </a:r>
            <a:endParaRPr kumimoji="1" lang="en-MY" altLang="ja-JP" sz="1400" dirty="0"/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sz="140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日本</a:t>
            </a:r>
            <a:r>
              <a:rPr lang="ja-JP" sz="1400" b="1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政府</a:t>
            </a:r>
            <a:r>
              <a:rPr lang="ja-JP" sz="140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が、どれだけ</a:t>
            </a:r>
            <a:r>
              <a:rPr lang="ja-JP" sz="1400" b="1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早く</a:t>
            </a:r>
            <a:r>
              <a:rPr lang="ja-JP" sz="140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、</a:t>
            </a:r>
            <a:r>
              <a:rPr lang="ja-JP" sz="1400" b="1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柔軟に政策を進められる</a:t>
            </a:r>
            <a:r>
              <a:rPr lang="ja-JP" sz="140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か。</a:t>
            </a:r>
            <a:endParaRPr lang="en-MY" altLang="ja-JP" sz="1400" kern="100" dirty="0"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sz="1400" b="1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外国に頼りすぎること</a:t>
            </a:r>
            <a:r>
              <a:rPr lang="ja-JP" sz="14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に対する</a:t>
            </a:r>
            <a:r>
              <a:rPr lang="ja-JP" sz="1400" b="1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国内の不安</a:t>
            </a:r>
            <a:r>
              <a:rPr lang="ja-JP" sz="14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を、どう</a:t>
            </a:r>
            <a:r>
              <a:rPr lang="ja-JP" sz="1400" b="1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解決する</a:t>
            </a:r>
            <a:r>
              <a:rPr lang="ja-JP" sz="14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か</a:t>
            </a:r>
            <a:r>
              <a:rPr lang="ja-JP" altLang="en-US" sz="14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。</a:t>
            </a:r>
            <a:endParaRPr kumimoji="1" lang="en-MY" altLang="ja-JP" sz="1100" dirty="0"/>
          </a:p>
        </p:txBody>
      </p:sp>
      <p:sp>
        <p:nvSpPr>
          <p:cNvPr id="46" name="正方形/長方形 46">
            <a:extLst>
              <a:ext uri="{FF2B5EF4-FFF2-40B4-BE49-F238E27FC236}">
                <a16:creationId xmlns:a16="http://schemas.microsoft.com/office/drawing/2014/main" id="{542A913B-FCB9-4B6A-B9DD-DC70CEA26027}"/>
              </a:ext>
            </a:extLst>
          </p:cNvPr>
          <p:cNvSpPr/>
          <p:nvPr/>
        </p:nvSpPr>
        <p:spPr>
          <a:xfrm>
            <a:off x="5059824" y="4287261"/>
            <a:ext cx="6123812" cy="241621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47" name="矢印: 上 47">
            <a:extLst>
              <a:ext uri="{FF2B5EF4-FFF2-40B4-BE49-F238E27FC236}">
                <a16:creationId xmlns:a16="http://schemas.microsoft.com/office/drawing/2014/main" id="{A4608F6E-0F7E-4C28-B20F-4AA68EA7532E}"/>
              </a:ext>
            </a:extLst>
          </p:cNvPr>
          <p:cNvSpPr/>
          <p:nvPr/>
        </p:nvSpPr>
        <p:spPr>
          <a:xfrm>
            <a:off x="6889429" y="3891651"/>
            <a:ext cx="2530997" cy="305815"/>
          </a:xfrm>
          <a:prstGeom prst="upArrow">
            <a:avLst>
              <a:gd name="adj1" fmla="val 73781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AAB4D05-D0A3-D53B-8392-AB82B0225BB6}"/>
              </a:ext>
            </a:extLst>
          </p:cNvPr>
          <p:cNvSpPr/>
          <p:nvPr/>
        </p:nvSpPr>
        <p:spPr>
          <a:xfrm>
            <a:off x="2680583" y="4122138"/>
            <a:ext cx="1270000" cy="36097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F2BD1F8-C6B5-F59B-3620-26E78E9D562C}"/>
              </a:ext>
            </a:extLst>
          </p:cNvPr>
          <p:cNvSpPr/>
          <p:nvPr/>
        </p:nvSpPr>
        <p:spPr>
          <a:xfrm>
            <a:off x="362907" y="4544667"/>
            <a:ext cx="1183953" cy="3267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以前の価値観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02BA394-12EC-A7A8-A4F9-DAD1B6F17051}"/>
              </a:ext>
            </a:extLst>
          </p:cNvPr>
          <p:cNvSpPr/>
          <p:nvPr/>
        </p:nvSpPr>
        <p:spPr>
          <a:xfrm>
            <a:off x="362907" y="5593598"/>
            <a:ext cx="1183953" cy="3267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現在の価値観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C2CA1D9-AEA8-1758-9F6D-C6CECE1DBF9A}"/>
              </a:ext>
            </a:extLst>
          </p:cNvPr>
          <p:cNvSpPr/>
          <p:nvPr/>
        </p:nvSpPr>
        <p:spPr>
          <a:xfrm>
            <a:off x="362907" y="4940799"/>
            <a:ext cx="4224373" cy="55457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>
                <a:solidFill>
                  <a:schemeClr val="tx1"/>
                </a:solidFill>
              </a:rPr>
              <a:t>日本は今まで、内需中心で、外国からの投資をあまり　　　　　　受け入れてきませんでした。</a:t>
            </a:r>
            <a:endParaRPr lang="en-MY" altLang="ja-JP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>
                <a:solidFill>
                  <a:schemeClr val="tx1"/>
                </a:solidFill>
              </a:rPr>
              <a:t>外国人投資家に対しても、慎重な対応をしてきました。</a:t>
            </a:r>
            <a:endParaRPr lang="en-MY" sz="1000" dirty="0">
              <a:solidFill>
                <a:schemeClr val="tx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1D5C8A3-447C-31C1-065F-4A151B84AF43}"/>
              </a:ext>
            </a:extLst>
          </p:cNvPr>
          <p:cNvSpPr/>
          <p:nvPr/>
        </p:nvSpPr>
        <p:spPr>
          <a:xfrm>
            <a:off x="378463" y="5973207"/>
            <a:ext cx="4224373" cy="55457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000" dirty="0">
                <a:solidFill>
                  <a:schemeClr val="tx1"/>
                </a:solidFill>
              </a:rPr>
              <a:t>今は、外国の投資を積極的に受け入れるようになっています。</a:t>
            </a:r>
            <a:endParaRPr lang="en-MY" altLang="ja-JP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b="1" dirty="0">
                <a:solidFill>
                  <a:schemeClr val="tx1"/>
                </a:solidFill>
              </a:rPr>
              <a:t>「安定した投資先」</a:t>
            </a:r>
            <a:r>
              <a:rPr lang="ja-JP" altLang="en-US" sz="1000" dirty="0">
                <a:solidFill>
                  <a:schemeClr val="tx1"/>
                </a:solidFill>
              </a:rPr>
              <a:t>として、日本の評価が高くなっていて、経済の　　　グローバル化が進んでいます</a:t>
            </a:r>
            <a:endParaRPr lang="en-MY" sz="1000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50AAE9-6251-2085-36B0-760B327CD7D1}"/>
              </a:ext>
            </a:extLst>
          </p:cNvPr>
          <p:cNvSpPr txBox="1"/>
          <p:nvPr/>
        </p:nvSpPr>
        <p:spPr>
          <a:xfrm>
            <a:off x="8298994" y="1885659"/>
            <a:ext cx="2751049" cy="1589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sz="105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日本の会社は、海外の投資を受けて、もっと</a:t>
            </a:r>
            <a:r>
              <a:rPr lang="ja-JP" sz="1050" b="1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グローバルに活動する</a:t>
            </a:r>
            <a:r>
              <a:rPr lang="ja-JP" sz="105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ようになります。</a:t>
            </a:r>
            <a:endParaRPr lang="en-MY" sz="1050" kern="100" dirty="0"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sz="1050" b="1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スタートアップや新しいサービス</a:t>
            </a:r>
            <a:r>
              <a:rPr lang="ja-JP" sz="105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も、外国の支援で成長しやすくなります。</a:t>
            </a:r>
            <a:endParaRPr lang="en-MY" sz="1050" kern="100" dirty="0"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sz="105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日本が</a:t>
            </a:r>
            <a:r>
              <a:rPr lang="ja-JP" sz="1050" b="1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「世界の金融ハブ」</a:t>
            </a:r>
            <a:r>
              <a:rPr lang="ja-JP" sz="1050" kern="10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になる可能性も出てきます。</a:t>
            </a:r>
            <a:endParaRPr lang="en-MY" sz="1050" kern="100" dirty="0"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63" name="Graphic 62" descr="Tax outline">
            <a:extLst>
              <a:ext uri="{FF2B5EF4-FFF2-40B4-BE49-F238E27FC236}">
                <a16:creationId xmlns:a16="http://schemas.microsoft.com/office/drawing/2014/main" id="{1B0A592B-3BE7-61E2-27A7-93321A1F0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8185" y="3290971"/>
            <a:ext cx="914400" cy="914400"/>
          </a:xfrm>
          <a:prstGeom prst="rect">
            <a:avLst/>
          </a:prstGeom>
        </p:spPr>
      </p:pic>
      <p:pic>
        <p:nvPicPr>
          <p:cNvPr id="65" name="Picture 64" descr="Arrows pointing up">
            <a:extLst>
              <a:ext uri="{FF2B5EF4-FFF2-40B4-BE49-F238E27FC236}">
                <a16:creationId xmlns:a16="http://schemas.microsoft.com/office/drawing/2014/main" id="{E76033F4-F1EA-2BAE-6FF3-8894B45A0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688" y="3181718"/>
            <a:ext cx="1155948" cy="8669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3473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743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AZRIZ DANIAL BIN AHMAD RIZAL(s25t358)</dc:creator>
  <cp:lastModifiedBy>MUHAMMAD AZRIZ DANIAL BIN AHMAD RIZAL(s25t358)</cp:lastModifiedBy>
  <cp:revision>1</cp:revision>
  <dcterms:created xsi:type="dcterms:W3CDTF">2025-05-14T00:39:57Z</dcterms:created>
  <dcterms:modified xsi:type="dcterms:W3CDTF">2025-05-14T01:15:31Z</dcterms:modified>
</cp:coreProperties>
</file>